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721" y="2374552"/>
            <a:ext cx="2456408" cy="3143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373003" y="2917477"/>
            <a:ext cx="5445993" cy="670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0F172A"/>
                </a:solidFill>
                <a:latin typeface="Plus Jakarta Sans"/>
              </a:rPr>
              <a:t>Construction 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7875" y="3740348"/>
            <a:ext cx="809625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64748B"/>
                </a:solidFill>
                <a:latin typeface="Inter"/>
              </a:rPr>
              <a:t>A Privacy-Preserving Local Multi-Agent System for Intelligent Construction Site Management &amp; CPM Delay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0" y="2481262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45756" y="2747962"/>
            <a:ext cx="3900487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4050" i="0" u="none">
                <a:solidFill>
                  <a:srgbClr val="0F172A"/>
                </a:solidFill>
                <a:latin typeface="Plus Jakarta Sans"/>
              </a:rPr>
              <a:t>Why We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4125" y="3548062"/>
            <a:ext cx="7143750" cy="942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64748B"/>
                </a:solidFill>
                <a:latin typeface="Inter"/>
              </a:rPr>
              <a:t>Addressing core pain points in data confidentiality, regulatory compliance, and scheduling fragmentation across construction workflows.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71750"/>
            <a:ext cx="5334000" cy="24288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71750"/>
            <a:ext cx="5334000" cy="24288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5825" y="2886075"/>
            <a:ext cx="494061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1. Strict Data Privacy &amp;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25" y="3286125"/>
            <a:ext cx="4705350" cy="1285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Proprietary structural blueprints, site notes, and procurement contracts contain sensitive intellectual property. Offloading this data to external commercial LLM APIs creates unacceptable security risks and compliance breaches.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825" y="2886075"/>
            <a:ext cx="494061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2. Miscommunication &amp; Delay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0825" y="3286125"/>
            <a:ext cx="4705350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Unstructured inspection notes often fail to map directly to structural codes (ACI 318, Eurocodes). Misalignments between material changes and supplier lead times trigger untracked critical path delays.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Key Industry Challenges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3900" y="476250"/>
            <a:ext cx="544068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The Vision &amp; Purpose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190625"/>
            <a:ext cx="56007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Bridging Field Notes to Engineering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590675"/>
            <a:ext cx="533400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We built this system to bridge unstructured site inspection notes with strict building standard compliance and deterministic graph scheduling.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476500"/>
            <a:ext cx="533400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By executing 100% locally on on-premise hardware, site managers can verify structural revisions, resolve supplier lead times, and update project timelines with complete data privacy.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0" y="2638425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385661" y="2905125"/>
            <a:ext cx="5420677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4050" i="0" u="none">
                <a:solidFill>
                  <a:srgbClr val="0F172A"/>
                </a:solidFill>
                <a:latin typeface="Plus Jakarta San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4125" y="3705225"/>
            <a:ext cx="714375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64748B"/>
                </a:solidFill>
                <a:latin typeface="Inter"/>
              </a:rPr>
              <a:t>A multi-agent architecture combining local LLM intelligence, vector retrieval, and deterministic graph engines.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47900"/>
            <a:ext cx="3530649" cy="3076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247900"/>
            <a:ext cx="3530649" cy="3076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2247900"/>
            <a:ext cx="3530649" cy="3076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2524125"/>
            <a:ext cx="533400" cy="53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7725" y="3248025"/>
            <a:ext cx="135016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RAG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648075"/>
            <a:ext cx="2978199" cy="1285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Retrieves vector-grounded building standards (ACI 318, BS 8110, Eurocode) to validate site inspection notes against engineering compliance rules.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6974" y="2524125"/>
            <a:ext cx="5334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6974" y="3248025"/>
            <a:ext cx="263032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Design &amp; 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6974" y="3648075"/>
            <a:ext cx="2978199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Parses structured Pydantic specs (e.g., C40/50 Ready-Mix Concrete) and matches supplier availability, logistics, and order lead times.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224" y="2524125"/>
            <a:ext cx="533400" cy="533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6224" y="3248025"/>
            <a:ext cx="21602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Graph CPM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224" y="3648075"/>
            <a:ext cx="2978199" cy="1285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Uses NetworkX Directed Acyclic Graphs (DAG) to compute topological float, critical path impacts, and total delay without math hallucination.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362" y="2657475"/>
            <a:ext cx="238125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612" y="2657475"/>
            <a:ext cx="238125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0524" y="2657475"/>
            <a:ext cx="304800" cy="266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Three Intelligent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976437"/>
            <a:ext cx="53340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76437"/>
            <a:ext cx="56007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Complete On-Premise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2376487"/>
            <a:ext cx="952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376487"/>
            <a:ext cx="5143500" cy="514350"/>
          </a:xfrm>
          <a:prstGeom prst="rect">
            <a:avLst/>
          </a:prstGeom>
          <a:noFill/>
        </p:spPr>
        <p:txBody>
          <a:bodyPr wrap="square" lIns="9525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475569"/>
                </a:solidFill>
                <a:latin typeface="Inter"/>
              </a:rPr>
              <a:t>Powered by Ollama: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 Runs 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llama3.1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 locally for complete operational independence.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3005137"/>
            <a:ext cx="952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005137"/>
            <a:ext cx="5143500" cy="514350"/>
          </a:xfrm>
          <a:prstGeom prst="rect">
            <a:avLst/>
          </a:prstGeom>
          <a:noFill/>
        </p:spPr>
        <p:txBody>
          <a:bodyPr wrap="square" lIns="9525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475569"/>
                </a:solidFill>
                <a:latin typeface="Inter"/>
              </a:rPr>
              <a:t>Zero Data Leakage: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 No reliance on third-party cloud APIs or external server round-trips.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33787"/>
            <a:ext cx="952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633787"/>
            <a:ext cx="5143500" cy="771525"/>
          </a:xfrm>
          <a:prstGeom prst="rect">
            <a:avLst/>
          </a:prstGeom>
          <a:noFill/>
        </p:spPr>
        <p:txBody>
          <a:bodyPr wrap="square" lIns="9525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475569"/>
                </a:solidFill>
                <a:latin typeface="Inter"/>
              </a:rPr>
              <a:t>Relational Audit Trail: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 Stores all execution states, revision histories, and CPM calculations in SQLite (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construction_mas.db</a:t>
            </a:r>
            <a:r>
              <a:rPr b="0" sz="1350" i="0" u="none">
                <a:solidFill>
                  <a:srgbClr val="475569"/>
                </a:solidFill>
                <a:latin typeface="Inter"/>
              </a:rPr>
              <a:t>).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976437"/>
            <a:ext cx="5334000" cy="3619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Local Privacy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67000"/>
            <a:ext cx="5334000" cy="22383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3057525"/>
            <a:ext cx="49339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b="0" sz="8250" i="0" u="none">
                <a:solidFill>
                  <a:srgbClr val="0284C7"/>
                </a:solidFill>
                <a:latin typeface="Plus Jakarta Sans ExtraBold"/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4200525"/>
            <a:ext cx="493395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1" sz="1650" i="0" u="none">
                <a:solidFill>
                  <a:srgbClr val="0369A1"/>
                </a:solidFill>
                <a:latin typeface="Inter"/>
              </a:rPr>
              <a:t>Deterministic Graph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2667000"/>
            <a:ext cx="56007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284C7"/>
                </a:solidFill>
                <a:latin typeface="Plus Jakarta Sans SemiBold"/>
              </a:rPr>
              <a:t>Eliminating LLM Math Hallucination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3067050"/>
            <a:ext cx="533400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Traditional LLMs struggle with precise schedule mathematics and dependencies. Our system offloads topological calculations directly to a NetworkX Directed Acyclic Graph (DAG) solver.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3952875"/>
            <a:ext cx="53340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This guarantees exact calculation of early start, late finish, free float, and project critical path delays every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Mathematical Precision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0" y="2638425"/>
            <a:ext cx="762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50781" y="2905125"/>
            <a:ext cx="3490436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4050" i="0" u="none">
                <a:solidFill>
                  <a:srgbClr val="0F172A"/>
                </a:solidFill>
                <a:latin typeface="Plus Jakarta Sans"/>
              </a:rPr>
              <a:t>How To Use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4125" y="3705225"/>
            <a:ext cx="7143750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64748B"/>
                </a:solidFill>
                <a:latin typeface="Inter"/>
              </a:rPr>
              <a:t>Step-by-step workflow from local environment setup to live interactive testing and database auditing.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014787"/>
            <a:ext cx="2541240" cy="1104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7419" y="2243137"/>
            <a:ext cx="2541240" cy="1314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3339" y="4014787"/>
            <a:ext cx="2541240" cy="11144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259" y="2452687"/>
            <a:ext cx="2541240" cy="110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3767137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995" y="4214812"/>
            <a:ext cx="224824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0F172A"/>
                </a:solidFill>
                <a:latin typeface="Plus Jakarta Sans SemiBold"/>
              </a:rPr>
              <a:t>1. Setup Ollama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4510087"/>
            <a:ext cx="214119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Install Ollama and pull local model: </a:t>
            </a:r>
            <a:r>
              <a:rPr b="0" sz="1050" i="0" u="none">
                <a:solidFill>
                  <a:srgbClr val="475569"/>
                </a:solidFill>
                <a:latin typeface="Inter"/>
              </a:rPr>
              <a:t>ollama pull llama3.1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3915" y="2443162"/>
            <a:ext cx="224824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0F172A"/>
                </a:solidFill>
                <a:latin typeface="Plus Jakarta Sans SemiBold"/>
              </a:rPr>
              <a:t>2. Install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444" y="2738437"/>
            <a:ext cx="2141190" cy="619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Clone repository &amp; install requirements: </a:t>
            </a:r>
            <a:r>
              <a:rPr b="0" sz="1050" i="0" u="none">
                <a:solidFill>
                  <a:srgbClr val="475569"/>
                </a:solidFill>
                <a:latin typeface="Inter"/>
              </a:rPr>
              <a:t>pip install -r requirements.txt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9835" y="4214812"/>
            <a:ext cx="224824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0F172A"/>
                </a:solidFill>
                <a:latin typeface="Plus Jakarta Sans SemiBold"/>
              </a:rPr>
              <a:t>3. Terminal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64" y="4510087"/>
            <a:ext cx="214119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Run full local pipeline: </a:t>
            </a:r>
            <a:r>
              <a:rPr b="0" sz="1050" i="0" u="none">
                <a:solidFill>
                  <a:srgbClr val="475569"/>
                </a:solidFill>
                <a:latin typeface="Inter"/>
              </a:rPr>
              <a:t>python agent_pipeline.py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5755" y="2652712"/>
            <a:ext cx="224824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0F172A"/>
                </a:solidFill>
                <a:latin typeface="Plus Jakarta Sans SemiBold"/>
              </a:rPr>
              <a:t>4. Streamlit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9284" y="2947987"/>
            <a:ext cx="214119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Launch live dashboard: </a:t>
            </a:r>
            <a:r>
              <a:rPr b="0" sz="1050" i="0" u="none">
                <a:solidFill>
                  <a:srgbClr val="475569"/>
                </a:solidFill>
                <a:latin typeface="Inter"/>
              </a:rPr>
              <a:t>streamlit run app.py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Quick Start Guide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46870" y="36909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82790" y="36909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18709" y="36909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254629" y="36909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2457450"/>
            <a:ext cx="11049000" cy="2657475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1500" y="2457450"/>
          <a:ext cx="11048998" cy="2657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737568"/>
                <a:gridCol w="2699295"/>
                <a:gridCol w="4622750"/>
                <a:gridCol w="1989385"/>
              </a:tblGrid>
              <a:tr h="531495"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Module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Technology Stack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Core Function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Plus Jakarta Sans"/>
                        </a:rPr>
                        <a:t>Privacy Level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Local LLM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Ollama + Llama 3.1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Natural language understanding &amp; Pydantic extraction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100% Local / Offline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RAG Knowledge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ChromaDB / Vector Retriever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Building code standard semantic matching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100% Local / Offline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CPM Engine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NetworkX Graph Solver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Topological float &amp; Critical Path delay calculation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Deterministic Code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Persistence &amp; UI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SQLite + Streamlit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State auditing lineage &amp; interactive dashboard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475569"/>
                          </a:solidFill>
                          <a:latin typeface="Inter"/>
                        </a:rPr>
                        <a:t>Local Database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71500" y="2986087"/>
            <a:ext cx="17375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09068" y="2986087"/>
            <a:ext cx="26992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8364" y="2986087"/>
            <a:ext cx="46227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31114" y="2986087"/>
            <a:ext cx="198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" y="3514725"/>
            <a:ext cx="17375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09068" y="3514725"/>
            <a:ext cx="26992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08364" y="3514725"/>
            <a:ext cx="46227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31114" y="3514725"/>
            <a:ext cx="198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1500" y="4043362"/>
            <a:ext cx="17375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09068" y="4043362"/>
            <a:ext cx="26992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08364" y="4043362"/>
            <a:ext cx="46227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31114" y="4043362"/>
            <a:ext cx="198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" y="4572000"/>
            <a:ext cx="17375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09068" y="4572000"/>
            <a:ext cx="26992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8364" y="4572000"/>
            <a:ext cx="46227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31114" y="4572000"/>
            <a:ext cx="198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5100637"/>
            <a:ext cx="173756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09068" y="5100637"/>
            <a:ext cx="269929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08364" y="5100637"/>
            <a:ext cx="46227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31114" y="5100637"/>
            <a:ext cx="19893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System Technical Stack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1225" y="2124075"/>
            <a:ext cx="7829550" cy="5238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476250"/>
            <a:ext cx="11601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4800" i="0" u="none">
                <a:solidFill>
                  <a:srgbClr val="0F172A"/>
                </a:solidFill>
                <a:latin typeface="Plus Jakarta Sans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390650"/>
            <a:ext cx="110490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64748B"/>
                </a:solidFill>
                <a:latin typeface="Inter"/>
              </a:rPr>
              <a:t>A Privacy-Preserving Multi-Agent System for Modern Construction Management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243012" y="3019425"/>
            <a:ext cx="9705975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012" y="3781425"/>
            <a:ext cx="970597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3012" y="3781425"/>
            <a:ext cx="9705975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012" y="3162300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8387" y="3169443"/>
            <a:ext cx="8610600" cy="185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475569"/>
                </a:solidFill>
                <a:latin typeface="Inter"/>
              </a:rPr>
              <a:t>https://img.freepik.com/premium-photo/civil-engineer-architect-wearing-safety-helmet-reflective-vest-is-inspecting-blueprints_849102-13947.jpg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8387" y="3402806"/>
            <a:ext cx="861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www.magnific.com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012" y="3933825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38387" y="3940968"/>
            <a:ext cx="8610600" cy="185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475569"/>
                </a:solidFill>
                <a:latin typeface="Inter"/>
              </a:rPr>
              <a:t>https://www.excelsior.edu/wp-content/uploads/2025/02/cybersecurity-tools-image_blog.jpg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8387" y="4174331"/>
            <a:ext cx="861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www.excelsior.edu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476250"/>
            <a:ext cx="1144143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Image Sources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76250"/>
            <a:ext cx="47625" cy="4286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